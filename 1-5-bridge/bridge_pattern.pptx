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02" r:id="rId2"/>
    <p:sldId id="297" r:id="rId3"/>
    <p:sldId id="306" r:id="rId4"/>
    <p:sldId id="308" r:id="rId5"/>
    <p:sldId id="307" r:id="rId6"/>
    <p:sldId id="309" r:id="rId7"/>
    <p:sldId id="310" r:id="rId8"/>
    <p:sldId id="311" r:id="rId9"/>
    <p:sldId id="312" r:id="rId10"/>
    <p:sldId id="313" r:id="rId11"/>
    <p:sldId id="314" r:id="rId12"/>
    <p:sldId id="2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93"/>
    <p:restoredTop sz="94643"/>
  </p:normalViewPr>
  <p:slideViewPr>
    <p:cSldViewPr snapToGrid="0">
      <p:cViewPr varScale="1">
        <p:scale>
          <a:sx n="125" d="100"/>
          <a:sy n="125" d="100"/>
        </p:scale>
        <p:origin x="6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71E64-B4EF-4B40-B724-CEB241626157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11F99-C2D7-914A-BF64-E3395516B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00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11F99-C2D7-914A-BF64-E3395516B29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52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EA21-B6FD-50BC-7F77-32D751D79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26792-E6EA-D39C-F19F-6B32AB857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704FE-0040-EF46-BDDC-31471E93A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3F338-E3AD-9BDA-D8B9-138D384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405F7-F79C-DEAB-DE9B-52EBBAFB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9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914A-6549-A2D0-82B0-1D0E70416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CA81-ABE5-4E86-45CA-0408F3E20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56DD1-A474-8F4D-429F-FB71FF80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2A4FE-649C-8F90-ACF5-77C6A987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22A07-1E7E-BCAA-8692-DA4F97C5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4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2700-2D7B-7571-7221-A4F34F7B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73DA9-E2EE-D14E-1FF9-6C79C219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28951-08C5-7B16-D406-D4122C01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DFDED-0DA2-14FF-19C2-56AEB6FB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E75A-7863-A617-E2B8-EEE8E98F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0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FAF9-C9EA-D5E7-89A5-E8EF5133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9F44-62A0-04CB-F206-682EEBD21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67EC7-EF12-367F-14A4-B933E046F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9EFB-75F3-B21D-43B3-680BBF188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F2944-2C2A-E635-ECB8-3C107AC4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EDB37-0DCF-6177-D06F-97614123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05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B971-AFBB-02C3-394A-17AF7D9F0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CE77A-99EF-1CF8-6749-50B37E4DF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D8119-4B65-116F-F6D3-218022455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D2F12D-B57E-FBDC-F6DF-881D4F4F0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4026E-4103-1A45-2E5D-C14BF6469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F4CD6A-BECD-8E9F-1DB1-27A829C1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52731-169A-CCA2-527F-302F0FF0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835027-7759-6EB1-2402-F7363D90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1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356C-6313-87DE-5689-75E5DEF8C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831324-BB31-701D-64BD-85AF953B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C582D-2193-3EDC-B29C-933B1C74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3CE92-B42C-7996-A27E-3419630D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0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B4446-64C8-04B4-966B-3DC9D9F62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EEDF6B-424A-BBAD-A91A-F5BBED6D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8DE4B-EE51-08AC-A338-A88C60B03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4AC1-2F38-3AED-BF22-F641B73F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F347-7B42-ACDA-0C22-85C36B266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5D379-3FDE-DD0A-869F-3FC4166D6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AE869-8B54-BD8E-F417-7EFD4CA4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71229-62F3-AABF-CCA0-0A3C19FE7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F10F-3E6B-72F0-617B-CFF1493B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7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BF84-BBF3-64D0-7FC0-39851F51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1FBFB0-FBCD-3F15-EC3D-E1831ED0C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CE49B-2F70-D904-DD0D-B1A071473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E022B-BC7A-A0FF-65D8-2AE04419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6B233-15CC-4F01-87D2-31A10D99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E022-4ABD-9CFE-F4FD-FA129E9E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0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F529-7156-0061-3ECA-D85B7BB7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E1EE2-DFEB-A9B8-6069-6ED87A535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DB751-0D10-0249-FCB4-CB14E727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8A3E-FB4A-278B-3D0B-E2A67AC2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95186-DF5E-B6E4-4DB3-1204D8C8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0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9744A-94E4-EF87-61F9-039BC58B9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FD76F-5468-330A-6BE8-A16FE0E6F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42B65-503A-EFA4-4217-6330028B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6AD67-DD87-E644-3981-6A75CC10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3C3FE-B807-E1CD-7C24-A4585292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802A1-FBCA-D415-ECB4-26B0F956E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03BE1-8B79-AC72-F43B-8BA19EC29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DE4EE-88D7-D5BC-FB75-8FFB27DBF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35F10-9AD9-9C43-8528-A461A66E7819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E19F3-EBE6-D883-C587-1110D3278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8C41A-DD08-3884-A4E5-4F746DDAE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3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5ADDA-B585-77E2-1A74-4A179C63D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background with white lines&#10;&#10;Description automatically generated">
            <a:extLst>
              <a:ext uri="{FF2B5EF4-FFF2-40B4-BE49-F238E27FC236}">
                <a16:creationId xmlns:a16="http://schemas.microsoft.com/office/drawing/2014/main" id="{2B105D51-B644-02D3-CCC8-6201D8088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6328AAC-1194-D896-EF0F-79DFEA83E408}"/>
              </a:ext>
            </a:extLst>
          </p:cNvPr>
          <p:cNvSpPr txBox="1">
            <a:spLocks/>
          </p:cNvSpPr>
          <p:nvPr/>
        </p:nvSpPr>
        <p:spPr>
          <a:xfrm>
            <a:off x="1524000" y="2287116"/>
            <a:ext cx="9144000" cy="13242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Bridge Pattern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E2D12D2-9370-9B21-557D-3CC52C011335}"/>
              </a:ext>
            </a:extLst>
          </p:cNvPr>
          <p:cNvSpPr txBox="1">
            <a:spLocks/>
          </p:cNvSpPr>
          <p:nvPr/>
        </p:nvSpPr>
        <p:spPr>
          <a:xfrm>
            <a:off x="1524000" y="3850794"/>
            <a:ext cx="9144000" cy="1098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1" u="none" strike="noStrike" dirty="0">
                <a:solidFill>
                  <a:srgbClr val="444444"/>
                </a:solidFill>
                <a:effectLst/>
                <a:latin typeface="PT Sans" panose="020B0503020203020204" pitchFamily="34" charset="77"/>
              </a:rPr>
              <a:t>Abstraction?</a:t>
            </a:r>
            <a:r>
              <a:rPr lang="en-GB" b="0" i="0" u="none" strike="noStrike" dirty="0">
                <a:solidFill>
                  <a:srgbClr val="444444"/>
                </a:solidFill>
                <a:effectLst/>
                <a:latin typeface="PT Sans" panose="020B0503020203020204" pitchFamily="34" charset="77"/>
              </a:rPr>
              <a:t> </a:t>
            </a:r>
            <a:r>
              <a:rPr lang="en-GB" b="0" i="1" u="none" strike="noStrike" dirty="0">
                <a:solidFill>
                  <a:srgbClr val="444444"/>
                </a:solidFill>
                <a:effectLst/>
                <a:latin typeface="PT Sans" panose="020B0503020203020204" pitchFamily="34" charset="77"/>
              </a:rPr>
              <a:t>Implementation?</a:t>
            </a:r>
            <a:r>
              <a:rPr lang="en-GB" b="0" i="0" u="none" strike="noStrike" dirty="0">
                <a:solidFill>
                  <a:srgbClr val="444444"/>
                </a:solidFill>
                <a:effectLst/>
                <a:latin typeface="PT Sans" panose="020B0503020203020204" pitchFamily="34" charset="77"/>
              </a:rPr>
              <a:t> Sound scary?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04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blue circle with white lines&#10;&#10;Description automatically generated">
            <a:extLst>
              <a:ext uri="{FF2B5EF4-FFF2-40B4-BE49-F238E27FC236}">
                <a16:creationId xmlns:a16="http://schemas.microsoft.com/office/drawing/2014/main" id="{69EBB240-214E-90FB-CCD0-F97B340A0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9AF531A-522A-BA3B-70C0-6FD14787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4934" y="891724"/>
            <a:ext cx="4195674" cy="1093070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About me</a:t>
            </a:r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46677E19-8289-1FE6-C4E2-68D596AD4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4934" y="2064860"/>
            <a:ext cx="4195673" cy="2913872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Software Engineer at WiX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Co-org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Codeus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21" name="Picture 20" descr="A yellow and green corner&#10;&#10;Description automatically generated">
            <a:extLst>
              <a:ext uri="{FF2B5EF4-FFF2-40B4-BE49-F238E27FC236}">
                <a16:creationId xmlns:a16="http://schemas.microsoft.com/office/drawing/2014/main" id="{8B88B9FA-305A-F909-CBA5-FCBD1769E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6911" y="6327267"/>
            <a:ext cx="436029" cy="4426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008A4D-5BF3-9B86-052C-E81F9A1C2902}"/>
              </a:ext>
            </a:extLst>
          </p:cNvPr>
          <p:cNvSpPr txBox="1"/>
          <p:nvPr/>
        </p:nvSpPr>
        <p:spPr>
          <a:xfrm>
            <a:off x="2580640" y="3059668"/>
            <a:ext cx="241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</a:t>
            </a:r>
            <a:r>
              <a:rPr lang="uk-UA" dirty="0">
                <a:solidFill>
                  <a:schemeClr val="bg1"/>
                </a:solidFill>
              </a:rPr>
              <a:t>тут має бути фото</a:t>
            </a:r>
            <a:r>
              <a:rPr lang="en-US" dirty="0">
                <a:solidFill>
                  <a:schemeClr val="bg1"/>
                </a:solidFill>
              </a:rPr>
              <a:t>]</a:t>
            </a:r>
            <a:endParaRPr lang="en-U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70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9AF531A-522A-BA3B-70C0-6FD14787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761" y="2553195"/>
            <a:ext cx="9250477" cy="1484334"/>
          </a:xfrm>
        </p:spPr>
        <p:txBody>
          <a:bodyPr anchor="b">
            <a:normAutofit/>
          </a:bodyPr>
          <a:lstStyle/>
          <a:p>
            <a:pPr algn="ctr"/>
            <a:r>
              <a:rPr lang="en-GB" sz="2400" b="1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PT Sans" panose="020B0503020203020204" pitchFamily="34" charset="77"/>
              </a:rPr>
              <a:t>Bridge</a:t>
            </a:r>
            <a:r>
              <a:rPr lang="en-GB" sz="2400" b="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PT Sans" panose="020B0503020203020204" pitchFamily="34" charset="77"/>
              </a:rPr>
              <a:t> is a structural design pattern that lets you split a large class or a set of closely related classes into two separate </a:t>
            </a:r>
            <a:br>
              <a:rPr lang="en-GB" sz="2400" b="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PT Sans" panose="020B0503020203020204" pitchFamily="34" charset="77"/>
              </a:rPr>
            </a:br>
            <a:r>
              <a:rPr lang="en-GB" sz="2400" b="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PT Sans" panose="020B0503020203020204" pitchFamily="34" charset="77"/>
              </a:rPr>
              <a:t>hierarchies—abstraction and implementation—which can be developed independently of each other. </a:t>
            </a:r>
            <a:endParaRPr lang="en-US" sz="2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Picture 20" descr="A yellow and green corner&#10;&#10;Description automatically generated">
            <a:extLst>
              <a:ext uri="{FF2B5EF4-FFF2-40B4-BE49-F238E27FC236}">
                <a16:creationId xmlns:a16="http://schemas.microsoft.com/office/drawing/2014/main" id="{8B88B9FA-305A-F909-CBA5-FCBD1769E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6911" y="6327267"/>
            <a:ext cx="436029" cy="4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26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9AF531A-522A-BA3B-70C0-6FD14787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163" y="2775166"/>
            <a:ext cx="4195674" cy="653834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</a:p>
        </p:txBody>
      </p:sp>
      <p:pic>
        <p:nvPicPr>
          <p:cNvPr id="21" name="Picture 20" descr="A yellow and green corner&#10;&#10;Description automatically generated">
            <a:extLst>
              <a:ext uri="{FF2B5EF4-FFF2-40B4-BE49-F238E27FC236}">
                <a16:creationId xmlns:a16="http://schemas.microsoft.com/office/drawing/2014/main" id="{8B88B9FA-305A-F909-CBA5-FCBD1769E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6911" y="6327267"/>
            <a:ext cx="436029" cy="4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92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2FCA51-8822-F8D9-B6D0-2E1D09C6DFEE}"/>
              </a:ext>
            </a:extLst>
          </p:cNvPr>
          <p:cNvSpPr txBox="1"/>
          <p:nvPr/>
        </p:nvSpPr>
        <p:spPr>
          <a:xfrm>
            <a:off x="2397760" y="1422400"/>
            <a:ext cx="2171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A" sz="2400" dirty="0">
                <a:solidFill>
                  <a:schemeClr val="bg2">
                    <a:lumMod val="25000"/>
                  </a:schemeClr>
                </a:solidFill>
              </a:rPr>
              <a:t>Payment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BBCC3B-9674-2C04-7C86-FBB5C5647145}"/>
              </a:ext>
            </a:extLst>
          </p:cNvPr>
          <p:cNvSpPr txBox="1"/>
          <p:nvPr/>
        </p:nvSpPr>
        <p:spPr>
          <a:xfrm>
            <a:off x="7074328" y="1422400"/>
            <a:ext cx="2719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A" sz="2400" dirty="0">
                <a:solidFill>
                  <a:schemeClr val="bg2">
                    <a:lumMod val="25000"/>
                  </a:schemeClr>
                </a:solidFill>
              </a:rPr>
              <a:t>Payment Gateways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6EAD65-3C37-9AE7-F34E-5BF207613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1" b="9249"/>
          <a:stretch/>
        </p:blipFill>
        <p:spPr>
          <a:xfrm>
            <a:off x="2575820" y="1884065"/>
            <a:ext cx="1815563" cy="16666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3546BB-A7A6-9E66-94BC-75C9CED0F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445" y="3802247"/>
            <a:ext cx="1232312" cy="12158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9464F2-7282-98CD-EDBD-C9563EC9F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384" y="2104901"/>
            <a:ext cx="22098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A82FE8-6441-461F-0A0C-49BF49BF2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0" y="3240137"/>
            <a:ext cx="2286000" cy="88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6AB41E-A674-BB6F-D328-2E6098EFA7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4328" y="4211483"/>
            <a:ext cx="2723046" cy="1524906"/>
          </a:xfrm>
          <a:prstGeom prst="rect">
            <a:avLst/>
          </a:prstGeom>
        </p:spPr>
      </p:pic>
      <p:pic>
        <p:nvPicPr>
          <p:cNvPr id="2" name="Picture 1" descr="A yellow and green corner&#10;&#10;Description automatically generated">
            <a:extLst>
              <a:ext uri="{FF2B5EF4-FFF2-40B4-BE49-F238E27FC236}">
                <a16:creationId xmlns:a16="http://schemas.microsoft.com/office/drawing/2014/main" id="{2A4BA901-5C31-09B0-5CF0-AD45803C84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56911" y="6327267"/>
            <a:ext cx="436029" cy="4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C5A801-AFDE-3C88-BD3F-C55A88AAA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096" y="100693"/>
            <a:ext cx="5562938" cy="50888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C20552-4275-8673-3103-419DB8C0EE83}"/>
              </a:ext>
            </a:extLst>
          </p:cNvPr>
          <p:cNvSpPr txBox="1"/>
          <p:nvPr/>
        </p:nvSpPr>
        <p:spPr>
          <a:xfrm>
            <a:off x="2758930" y="5623702"/>
            <a:ext cx="7075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A" sz="2400" dirty="0">
                <a:solidFill>
                  <a:schemeClr val="bg2">
                    <a:lumMod val="25000"/>
                  </a:schemeClr>
                </a:solidFill>
              </a:rPr>
              <a:t>2 (payment types) * 3 (payment gateway) = 6 classes</a:t>
            </a:r>
          </a:p>
        </p:txBody>
      </p:sp>
      <p:pic>
        <p:nvPicPr>
          <p:cNvPr id="2" name="Picture 1" descr="A yellow and green corner&#10;&#10;Description automatically generated">
            <a:extLst>
              <a:ext uri="{FF2B5EF4-FFF2-40B4-BE49-F238E27FC236}">
                <a16:creationId xmlns:a16="http://schemas.microsoft.com/office/drawing/2014/main" id="{A691AAA1-5DEE-DBC2-891B-6DFFC8D4D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6911" y="6327267"/>
            <a:ext cx="436029" cy="4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4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9AF531A-522A-BA3B-70C0-6FD14787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163" y="2775166"/>
            <a:ext cx="4195674" cy="653834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</p:txBody>
      </p:sp>
      <p:pic>
        <p:nvPicPr>
          <p:cNvPr id="21" name="Picture 20" descr="A yellow and green corner&#10;&#10;Description automatically generated">
            <a:extLst>
              <a:ext uri="{FF2B5EF4-FFF2-40B4-BE49-F238E27FC236}">
                <a16:creationId xmlns:a16="http://schemas.microsoft.com/office/drawing/2014/main" id="{8B88B9FA-305A-F909-CBA5-FCBD1769E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6911" y="6327267"/>
            <a:ext cx="436029" cy="4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26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D89318-10E5-39A5-8A8B-A70D57852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52620"/>
            <a:ext cx="7772400" cy="4952759"/>
          </a:xfrm>
          <a:prstGeom prst="rect">
            <a:avLst/>
          </a:prstGeom>
        </p:spPr>
      </p:pic>
      <p:pic>
        <p:nvPicPr>
          <p:cNvPr id="2" name="Picture 1" descr="A yellow and green corner&#10;&#10;Description automatically generated">
            <a:extLst>
              <a:ext uri="{FF2B5EF4-FFF2-40B4-BE49-F238E27FC236}">
                <a16:creationId xmlns:a16="http://schemas.microsoft.com/office/drawing/2014/main" id="{6095589D-CEB7-BED8-940D-B4F6142F2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6911" y="6327267"/>
            <a:ext cx="436029" cy="4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167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05D4014-B025-A3F4-B658-4DACEF371C19}"/>
              </a:ext>
            </a:extLst>
          </p:cNvPr>
          <p:cNvSpPr txBox="1"/>
          <p:nvPr/>
        </p:nvSpPr>
        <p:spPr>
          <a:xfrm>
            <a:off x="5768440" y="1443841"/>
            <a:ext cx="72706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dirty="0">
                <a:solidFill>
                  <a:srgbClr val="0033B3"/>
                </a:solidFill>
                <a:effectLst/>
              </a:rPr>
              <a:t>class </a:t>
            </a:r>
            <a:r>
              <a:rPr lang="en-GB" dirty="0" err="1">
                <a:solidFill>
                  <a:srgbClr val="080808"/>
                </a:solidFill>
                <a:effectLst/>
              </a:rPr>
              <a:t>StripeGateway</a:t>
            </a:r>
            <a:r>
              <a:rPr lang="en-GB" dirty="0">
                <a:solidFill>
                  <a:srgbClr val="080808"/>
                </a:solidFill>
                <a:effectLst/>
              </a:rPr>
              <a:t> </a:t>
            </a:r>
            <a:r>
              <a:rPr lang="en-GB" dirty="0">
                <a:solidFill>
                  <a:srgbClr val="0033B3"/>
                </a:solidFill>
                <a:effectLst/>
              </a:rPr>
              <a:t>implements </a:t>
            </a:r>
            <a:r>
              <a:rPr lang="en-GB" dirty="0" err="1">
                <a:solidFill>
                  <a:srgbClr val="080808"/>
                </a:solidFill>
                <a:effectLst/>
              </a:rPr>
              <a:t>PaymentGateway</a:t>
            </a:r>
            <a:r>
              <a:rPr lang="en-GB" dirty="0">
                <a:solidFill>
                  <a:srgbClr val="080808"/>
                </a:solidFill>
                <a:effectLst/>
              </a:rPr>
              <a:t> {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FFC000"/>
                </a:solidFill>
                <a:effectLst/>
              </a:rPr>
              <a:t>@Override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void </a:t>
            </a:r>
            <a:r>
              <a:rPr lang="en-GB" dirty="0" err="1">
                <a:solidFill>
                  <a:srgbClr val="080808"/>
                </a:solidFill>
                <a:effectLst/>
              </a:rPr>
              <a:t>processPayment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033B3"/>
                </a:solidFill>
                <a:effectLst/>
              </a:rPr>
              <a:t>double </a:t>
            </a:r>
            <a:r>
              <a:rPr lang="en-GB" dirty="0">
                <a:solidFill>
                  <a:srgbClr val="080808"/>
                </a:solidFill>
                <a:effectLst/>
              </a:rPr>
              <a:t>amount) {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</a:t>
            </a:r>
            <a:r>
              <a:rPr lang="en-GB" dirty="0" err="1">
                <a:solidFill>
                  <a:srgbClr val="080808"/>
                </a:solidFill>
                <a:effectLst/>
              </a:rPr>
              <a:t>System.out.println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"Processing $" </a:t>
            </a:r>
            <a:r>
              <a:rPr lang="en-GB" dirty="0">
                <a:solidFill>
                  <a:srgbClr val="080808"/>
                </a:solidFill>
                <a:effectLst/>
              </a:rPr>
              <a:t>+ amount + </a:t>
            </a:r>
            <a:r>
              <a:rPr lang="en-GB" dirty="0">
                <a:solidFill>
                  <a:srgbClr val="067D17"/>
                </a:solidFill>
                <a:effectLst/>
              </a:rPr>
              <a:t>" via Stripe."</a:t>
            </a:r>
            <a:r>
              <a:rPr lang="en-GB" dirty="0">
                <a:solidFill>
                  <a:srgbClr val="080808"/>
                </a:solidFill>
                <a:effectLst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}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}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033B3"/>
                </a:solidFill>
                <a:effectLst/>
              </a:rPr>
              <a:t>class </a:t>
            </a:r>
            <a:r>
              <a:rPr lang="en-GB" dirty="0" err="1">
                <a:solidFill>
                  <a:srgbClr val="080808"/>
                </a:solidFill>
                <a:effectLst/>
              </a:rPr>
              <a:t>AdyenGateway</a:t>
            </a:r>
            <a:r>
              <a:rPr lang="en-GB" dirty="0">
                <a:solidFill>
                  <a:srgbClr val="080808"/>
                </a:solidFill>
                <a:effectLst/>
              </a:rPr>
              <a:t> </a:t>
            </a:r>
            <a:r>
              <a:rPr lang="en-GB" dirty="0">
                <a:solidFill>
                  <a:srgbClr val="0033B3"/>
                </a:solidFill>
                <a:effectLst/>
              </a:rPr>
              <a:t>implements </a:t>
            </a:r>
            <a:r>
              <a:rPr lang="en-GB" dirty="0" err="1">
                <a:solidFill>
                  <a:srgbClr val="080808"/>
                </a:solidFill>
                <a:effectLst/>
              </a:rPr>
              <a:t>PaymentGateway</a:t>
            </a:r>
            <a:r>
              <a:rPr lang="en-GB" dirty="0">
                <a:solidFill>
                  <a:srgbClr val="080808"/>
                </a:solidFill>
                <a:effectLst/>
              </a:rPr>
              <a:t> {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FFC000"/>
                </a:solidFill>
                <a:effectLst/>
              </a:rPr>
              <a:t>@Override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void </a:t>
            </a:r>
            <a:r>
              <a:rPr lang="en-GB" dirty="0" err="1">
                <a:solidFill>
                  <a:srgbClr val="080808"/>
                </a:solidFill>
                <a:effectLst/>
              </a:rPr>
              <a:t>processPayment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033B3"/>
                </a:solidFill>
                <a:effectLst/>
              </a:rPr>
              <a:t>double </a:t>
            </a:r>
            <a:r>
              <a:rPr lang="en-GB" dirty="0">
                <a:solidFill>
                  <a:srgbClr val="080808"/>
                </a:solidFill>
                <a:effectLst/>
              </a:rPr>
              <a:t>amount) {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</a:t>
            </a:r>
            <a:r>
              <a:rPr lang="en-GB" dirty="0" err="1">
                <a:solidFill>
                  <a:srgbClr val="080808"/>
                </a:solidFill>
                <a:effectLst/>
              </a:rPr>
              <a:t>System.out.println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"Processing $" </a:t>
            </a:r>
            <a:r>
              <a:rPr lang="en-GB" dirty="0">
                <a:solidFill>
                  <a:srgbClr val="080808"/>
                </a:solidFill>
                <a:effectLst/>
              </a:rPr>
              <a:t>+ amount + </a:t>
            </a:r>
            <a:r>
              <a:rPr lang="en-GB" dirty="0">
                <a:solidFill>
                  <a:srgbClr val="067D17"/>
                </a:solidFill>
                <a:effectLst/>
              </a:rPr>
              <a:t>" via Adyen."</a:t>
            </a:r>
            <a:r>
              <a:rPr lang="en-GB" dirty="0">
                <a:solidFill>
                  <a:srgbClr val="080808"/>
                </a:solidFill>
                <a:effectLst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}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}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BF3BC0-A0D3-FD79-6658-9E844A996932}"/>
              </a:ext>
            </a:extLst>
          </p:cNvPr>
          <p:cNvCxnSpPr>
            <a:cxnSpLocks/>
          </p:cNvCxnSpPr>
          <p:nvPr/>
        </p:nvCxnSpPr>
        <p:spPr>
          <a:xfrm>
            <a:off x="5557652" y="0"/>
            <a:ext cx="0" cy="685800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6698619-05A3-F828-BC31-BDA59BB1B96A}"/>
              </a:ext>
            </a:extLst>
          </p:cNvPr>
          <p:cNvSpPr txBox="1"/>
          <p:nvPr/>
        </p:nvSpPr>
        <p:spPr>
          <a:xfrm>
            <a:off x="895104" y="2967335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interface </a:t>
            </a:r>
            <a:r>
              <a:rPr lang="en-GB" dirty="0" err="1">
                <a:solidFill>
                  <a:srgbClr val="080808"/>
                </a:solidFill>
                <a:effectLst/>
              </a:rPr>
              <a:t>PaymentGateway</a:t>
            </a:r>
            <a:r>
              <a:rPr lang="en-GB" dirty="0">
                <a:solidFill>
                  <a:srgbClr val="080808"/>
                </a:solidFill>
                <a:effectLst/>
              </a:rPr>
              <a:t> {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void </a:t>
            </a:r>
            <a:r>
              <a:rPr lang="en-GB" dirty="0" err="1">
                <a:solidFill>
                  <a:srgbClr val="080808"/>
                </a:solidFill>
                <a:effectLst/>
              </a:rPr>
              <a:t>processPayment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033B3"/>
                </a:solidFill>
                <a:effectLst/>
              </a:rPr>
              <a:t>double </a:t>
            </a:r>
            <a:r>
              <a:rPr lang="en-GB" dirty="0">
                <a:solidFill>
                  <a:srgbClr val="080808"/>
                </a:solidFill>
                <a:effectLst/>
              </a:rPr>
              <a:t>amount);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}</a:t>
            </a:r>
            <a:endParaRPr lang="en-U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4047FD-426B-3A4D-66D9-D647DB7A4026}"/>
              </a:ext>
            </a:extLst>
          </p:cNvPr>
          <p:cNvSpPr txBox="1"/>
          <p:nvPr/>
        </p:nvSpPr>
        <p:spPr>
          <a:xfrm>
            <a:off x="1691685" y="478788"/>
            <a:ext cx="1908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A" sz="2400" dirty="0">
                <a:solidFill>
                  <a:schemeClr val="bg2">
                    <a:lumMod val="25000"/>
                  </a:schemeClr>
                </a:solidFill>
              </a:rPr>
              <a:t>Implementor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ADCCC1-13C6-2C30-2D6F-9FE60CB8A128}"/>
              </a:ext>
            </a:extLst>
          </p:cNvPr>
          <p:cNvSpPr txBox="1"/>
          <p:nvPr/>
        </p:nvSpPr>
        <p:spPr>
          <a:xfrm>
            <a:off x="7296090" y="494438"/>
            <a:ext cx="3351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A" sz="2400" dirty="0">
                <a:solidFill>
                  <a:schemeClr val="bg2">
                    <a:lumMod val="25000"/>
                  </a:schemeClr>
                </a:solidFill>
              </a:rPr>
              <a:t>Concrete Implementors</a:t>
            </a:r>
          </a:p>
        </p:txBody>
      </p:sp>
      <p:pic>
        <p:nvPicPr>
          <p:cNvPr id="2" name="Picture 1" descr="A yellow and green corner&#10;&#10;Description automatically generated">
            <a:extLst>
              <a:ext uri="{FF2B5EF4-FFF2-40B4-BE49-F238E27FC236}">
                <a16:creationId xmlns:a16="http://schemas.microsoft.com/office/drawing/2014/main" id="{7EB4F180-E835-913C-2842-526728C1E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6911" y="6327267"/>
            <a:ext cx="436029" cy="4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6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8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5E783E-B3D3-E0A5-85A4-75430B163DBF}"/>
              </a:ext>
            </a:extLst>
          </p:cNvPr>
          <p:cNvSpPr txBox="1"/>
          <p:nvPr/>
        </p:nvSpPr>
        <p:spPr>
          <a:xfrm>
            <a:off x="5799116" y="656970"/>
            <a:ext cx="68481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sz="1600" dirty="0" err="1">
                <a:solidFill>
                  <a:srgbClr val="080808"/>
                </a:solidFill>
                <a:effectLst/>
              </a:rPr>
              <a:t>CreditCardPayment</a:t>
            </a:r>
            <a:r>
              <a:rPr lang="en-GB" sz="1600" dirty="0">
                <a:solidFill>
                  <a:srgbClr val="080808"/>
                </a:solidFill>
                <a:effectLst/>
              </a:rPr>
              <a:t> </a:t>
            </a:r>
            <a:r>
              <a:rPr lang="en-GB" sz="1600" dirty="0">
                <a:solidFill>
                  <a:srgbClr val="0033B3"/>
                </a:solidFill>
                <a:effectLst/>
              </a:rPr>
              <a:t>extends </a:t>
            </a:r>
            <a:r>
              <a:rPr lang="en-GB" sz="1600" dirty="0">
                <a:solidFill>
                  <a:srgbClr val="080808"/>
                </a:solidFill>
                <a:effectLst/>
              </a:rPr>
              <a:t>Payment {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</a:t>
            </a:r>
            <a:r>
              <a:rPr lang="en-GB" sz="1600" dirty="0">
                <a:solidFill>
                  <a:srgbClr val="0033B3"/>
                </a:solidFill>
                <a:effectLst/>
              </a:rPr>
              <a:t>public </a:t>
            </a:r>
            <a:r>
              <a:rPr lang="en-GB" sz="1600" dirty="0" err="1">
                <a:solidFill>
                  <a:srgbClr val="080808"/>
                </a:solidFill>
                <a:effectLst/>
              </a:rPr>
              <a:t>CreditCardPayment</a:t>
            </a:r>
            <a:r>
              <a:rPr lang="en-GB" sz="1600" dirty="0">
                <a:solidFill>
                  <a:srgbClr val="080808"/>
                </a:solidFill>
                <a:effectLst/>
              </a:rPr>
              <a:t>(</a:t>
            </a:r>
            <a:r>
              <a:rPr lang="en-GB" sz="1600" dirty="0" err="1">
                <a:solidFill>
                  <a:srgbClr val="080808"/>
                </a:solidFill>
                <a:effectLst/>
              </a:rPr>
              <a:t>PaymentGateway</a:t>
            </a:r>
            <a:r>
              <a:rPr lang="en-GB" sz="1600" dirty="0">
                <a:solidFill>
                  <a:srgbClr val="080808"/>
                </a:solidFill>
                <a:effectLst/>
              </a:rPr>
              <a:t> gateway) {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    </a:t>
            </a:r>
            <a:r>
              <a:rPr lang="en-GB" sz="1600" dirty="0">
                <a:solidFill>
                  <a:srgbClr val="0033B3"/>
                </a:solidFill>
                <a:effectLst/>
              </a:rPr>
              <a:t>super</a:t>
            </a:r>
            <a:r>
              <a:rPr lang="en-GB" sz="1600" dirty="0">
                <a:solidFill>
                  <a:srgbClr val="080808"/>
                </a:solidFill>
                <a:effectLst/>
              </a:rPr>
              <a:t>(gateway);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}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</a:t>
            </a:r>
            <a:r>
              <a:rPr lang="en-GB" sz="1600" dirty="0">
                <a:solidFill>
                  <a:srgbClr val="FFC000"/>
                </a:solidFill>
                <a:effectLst/>
              </a:rPr>
              <a:t>@Override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</a:t>
            </a:r>
            <a:r>
              <a:rPr lang="en-GB" sz="1600" dirty="0">
                <a:solidFill>
                  <a:srgbClr val="0033B3"/>
                </a:solidFill>
                <a:effectLst/>
              </a:rPr>
              <a:t>public void </a:t>
            </a:r>
            <a:r>
              <a:rPr lang="en-GB" sz="1600" dirty="0">
                <a:solidFill>
                  <a:srgbClr val="080808"/>
                </a:solidFill>
                <a:effectLst/>
              </a:rPr>
              <a:t>pay(</a:t>
            </a:r>
            <a:r>
              <a:rPr lang="en-GB" sz="1600" dirty="0">
                <a:solidFill>
                  <a:srgbClr val="0033B3"/>
                </a:solidFill>
                <a:effectLst/>
              </a:rPr>
              <a:t>double </a:t>
            </a:r>
            <a:r>
              <a:rPr lang="en-GB" sz="1600" dirty="0">
                <a:solidFill>
                  <a:srgbClr val="080808"/>
                </a:solidFill>
                <a:effectLst/>
              </a:rPr>
              <a:t>amount) {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    </a:t>
            </a:r>
            <a:r>
              <a:rPr lang="en-GB" sz="1600" dirty="0" err="1">
                <a:solidFill>
                  <a:srgbClr val="080808"/>
                </a:solidFill>
                <a:effectLst/>
              </a:rPr>
              <a:t>System.out.println</a:t>
            </a:r>
            <a:r>
              <a:rPr lang="en-GB" sz="1600" dirty="0">
                <a:solidFill>
                  <a:srgbClr val="080808"/>
                </a:solidFill>
                <a:effectLst/>
              </a:rPr>
              <a:t>(</a:t>
            </a:r>
            <a:r>
              <a:rPr lang="en-GB" sz="1600" dirty="0">
                <a:solidFill>
                  <a:srgbClr val="067D17"/>
                </a:solidFill>
                <a:effectLst/>
              </a:rPr>
              <a:t>"Paying with Credit Card..."</a:t>
            </a:r>
            <a:r>
              <a:rPr lang="en-GB" sz="1600" dirty="0">
                <a:solidFill>
                  <a:srgbClr val="080808"/>
                </a:solidFill>
                <a:effectLst/>
              </a:rPr>
              <a:t>);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    </a:t>
            </a:r>
            <a:r>
              <a:rPr lang="en-GB" sz="1600" dirty="0" err="1">
                <a:solidFill>
                  <a:srgbClr val="080808"/>
                </a:solidFill>
                <a:effectLst/>
              </a:rPr>
              <a:t>gateway.processPayment</a:t>
            </a:r>
            <a:r>
              <a:rPr lang="en-GB" sz="1600" dirty="0">
                <a:solidFill>
                  <a:srgbClr val="080808"/>
                </a:solidFill>
                <a:effectLst/>
              </a:rPr>
              <a:t>(amount);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}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}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sz="1600" dirty="0" err="1">
                <a:solidFill>
                  <a:srgbClr val="080808"/>
                </a:solidFill>
                <a:effectLst/>
              </a:rPr>
              <a:t>PayPalPayment</a:t>
            </a:r>
            <a:r>
              <a:rPr lang="en-GB" sz="1600" dirty="0">
                <a:solidFill>
                  <a:srgbClr val="080808"/>
                </a:solidFill>
                <a:effectLst/>
              </a:rPr>
              <a:t> </a:t>
            </a:r>
            <a:r>
              <a:rPr lang="en-GB" sz="1600" dirty="0">
                <a:solidFill>
                  <a:srgbClr val="0033B3"/>
                </a:solidFill>
                <a:effectLst/>
              </a:rPr>
              <a:t>extends </a:t>
            </a:r>
            <a:r>
              <a:rPr lang="en-GB" sz="1600" dirty="0">
                <a:solidFill>
                  <a:srgbClr val="080808"/>
                </a:solidFill>
                <a:effectLst/>
              </a:rPr>
              <a:t>Payment {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</a:t>
            </a:r>
            <a:r>
              <a:rPr lang="en-GB" sz="1600" dirty="0">
                <a:solidFill>
                  <a:srgbClr val="0033B3"/>
                </a:solidFill>
                <a:effectLst/>
              </a:rPr>
              <a:t>public </a:t>
            </a:r>
            <a:r>
              <a:rPr lang="en-GB" sz="1600" dirty="0" err="1">
                <a:solidFill>
                  <a:srgbClr val="080808"/>
                </a:solidFill>
                <a:effectLst/>
              </a:rPr>
              <a:t>PayPalPayment</a:t>
            </a:r>
            <a:r>
              <a:rPr lang="en-GB" sz="1600" dirty="0">
                <a:solidFill>
                  <a:srgbClr val="080808"/>
                </a:solidFill>
                <a:effectLst/>
              </a:rPr>
              <a:t>(</a:t>
            </a:r>
            <a:r>
              <a:rPr lang="en-GB" sz="1600" dirty="0" err="1">
                <a:solidFill>
                  <a:srgbClr val="080808"/>
                </a:solidFill>
                <a:effectLst/>
              </a:rPr>
              <a:t>PaymentGateway</a:t>
            </a:r>
            <a:r>
              <a:rPr lang="en-GB" sz="1600" dirty="0">
                <a:solidFill>
                  <a:srgbClr val="080808"/>
                </a:solidFill>
                <a:effectLst/>
              </a:rPr>
              <a:t> gateway) {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    </a:t>
            </a:r>
            <a:r>
              <a:rPr lang="en-GB" sz="1600" dirty="0">
                <a:solidFill>
                  <a:srgbClr val="0033B3"/>
                </a:solidFill>
                <a:effectLst/>
              </a:rPr>
              <a:t>super</a:t>
            </a:r>
            <a:r>
              <a:rPr lang="en-GB" sz="1600" dirty="0">
                <a:solidFill>
                  <a:srgbClr val="080808"/>
                </a:solidFill>
                <a:effectLst/>
              </a:rPr>
              <a:t>(gateway);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}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</a:t>
            </a:r>
            <a:r>
              <a:rPr lang="en-GB" sz="1600" dirty="0">
                <a:solidFill>
                  <a:srgbClr val="FFC000"/>
                </a:solidFill>
                <a:effectLst/>
              </a:rPr>
              <a:t>@Override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</a:t>
            </a:r>
            <a:r>
              <a:rPr lang="en-GB" sz="1600" dirty="0">
                <a:solidFill>
                  <a:srgbClr val="0033B3"/>
                </a:solidFill>
                <a:effectLst/>
              </a:rPr>
              <a:t>public void </a:t>
            </a:r>
            <a:r>
              <a:rPr lang="en-GB" sz="1600" dirty="0">
                <a:solidFill>
                  <a:srgbClr val="080808"/>
                </a:solidFill>
                <a:effectLst/>
              </a:rPr>
              <a:t>pay(</a:t>
            </a:r>
            <a:r>
              <a:rPr lang="en-GB" sz="1600" dirty="0">
                <a:solidFill>
                  <a:srgbClr val="0033B3"/>
                </a:solidFill>
                <a:effectLst/>
              </a:rPr>
              <a:t>double </a:t>
            </a:r>
            <a:r>
              <a:rPr lang="en-GB" sz="1600" dirty="0">
                <a:solidFill>
                  <a:srgbClr val="080808"/>
                </a:solidFill>
                <a:effectLst/>
              </a:rPr>
              <a:t>amount) {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    </a:t>
            </a:r>
            <a:r>
              <a:rPr lang="en-GB" sz="1600" dirty="0" err="1">
                <a:solidFill>
                  <a:srgbClr val="080808"/>
                </a:solidFill>
                <a:effectLst/>
              </a:rPr>
              <a:t>System.out.println</a:t>
            </a:r>
            <a:r>
              <a:rPr lang="en-GB" sz="1600" dirty="0">
                <a:solidFill>
                  <a:srgbClr val="080808"/>
                </a:solidFill>
                <a:effectLst/>
              </a:rPr>
              <a:t>(</a:t>
            </a:r>
            <a:r>
              <a:rPr lang="en-GB" sz="1600" dirty="0">
                <a:solidFill>
                  <a:srgbClr val="067D17"/>
                </a:solidFill>
                <a:effectLst/>
              </a:rPr>
              <a:t>"Paying with PayPal..."</a:t>
            </a:r>
            <a:r>
              <a:rPr lang="en-GB" sz="1600" dirty="0">
                <a:solidFill>
                  <a:srgbClr val="080808"/>
                </a:solidFill>
                <a:effectLst/>
              </a:rPr>
              <a:t>);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    </a:t>
            </a:r>
            <a:r>
              <a:rPr lang="en-GB" sz="1600" dirty="0" err="1">
                <a:solidFill>
                  <a:srgbClr val="080808"/>
                </a:solidFill>
                <a:effectLst/>
              </a:rPr>
              <a:t>gateway.processPayment</a:t>
            </a:r>
            <a:r>
              <a:rPr lang="en-GB" sz="1600" dirty="0">
                <a:solidFill>
                  <a:srgbClr val="080808"/>
                </a:solidFill>
                <a:effectLst/>
              </a:rPr>
              <a:t>(amount);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    }</a:t>
            </a:r>
            <a:br>
              <a:rPr lang="en-GB" sz="1600" dirty="0">
                <a:solidFill>
                  <a:srgbClr val="080808"/>
                </a:solidFill>
                <a:effectLst/>
              </a:rPr>
            </a:br>
            <a:r>
              <a:rPr lang="en-GB" sz="1600" dirty="0">
                <a:solidFill>
                  <a:srgbClr val="080808"/>
                </a:solidFill>
                <a:effectLst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95330-C002-1AA2-54C9-17CB1A0E658C}"/>
              </a:ext>
            </a:extLst>
          </p:cNvPr>
          <p:cNvSpPr txBox="1"/>
          <p:nvPr/>
        </p:nvSpPr>
        <p:spPr>
          <a:xfrm>
            <a:off x="424543" y="1997839"/>
            <a:ext cx="60979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dirty="0">
                <a:solidFill>
                  <a:srgbClr val="0033B3"/>
                </a:solidFill>
                <a:effectLst/>
              </a:rPr>
              <a:t>abstract class </a:t>
            </a:r>
            <a:r>
              <a:rPr lang="en-GB" dirty="0">
                <a:solidFill>
                  <a:srgbClr val="080808"/>
                </a:solidFill>
                <a:effectLst/>
              </a:rPr>
              <a:t>Payment {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protected </a:t>
            </a:r>
            <a:r>
              <a:rPr lang="en-GB" dirty="0" err="1">
                <a:solidFill>
                  <a:srgbClr val="080808"/>
                </a:solidFill>
                <a:effectLst/>
              </a:rPr>
              <a:t>PaymentGateway</a:t>
            </a:r>
            <a:r>
              <a:rPr lang="en-GB" dirty="0">
                <a:solidFill>
                  <a:srgbClr val="080808"/>
                </a:solidFill>
                <a:effectLst/>
              </a:rPr>
              <a:t> gateway;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</a:t>
            </a:r>
            <a:r>
              <a:rPr lang="en-GB" dirty="0">
                <a:solidFill>
                  <a:srgbClr val="080808"/>
                </a:solidFill>
                <a:effectLst/>
              </a:rPr>
              <a:t>Payment(</a:t>
            </a:r>
            <a:r>
              <a:rPr lang="en-GB" dirty="0" err="1">
                <a:solidFill>
                  <a:srgbClr val="080808"/>
                </a:solidFill>
                <a:effectLst/>
              </a:rPr>
              <a:t>PaymentGateway</a:t>
            </a:r>
            <a:r>
              <a:rPr lang="en-GB" dirty="0">
                <a:solidFill>
                  <a:srgbClr val="080808"/>
                </a:solidFill>
                <a:effectLst/>
              </a:rPr>
              <a:t> gateway) {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</a:t>
            </a:r>
            <a:r>
              <a:rPr lang="en-GB" dirty="0" err="1">
                <a:solidFill>
                  <a:srgbClr val="0033B3"/>
                </a:solidFill>
                <a:effectLst/>
              </a:rPr>
              <a:t>this</a:t>
            </a:r>
            <a:r>
              <a:rPr lang="en-GB" dirty="0" err="1">
                <a:solidFill>
                  <a:srgbClr val="080808"/>
                </a:solidFill>
                <a:effectLst/>
              </a:rPr>
              <a:t>.gateway</a:t>
            </a:r>
            <a:r>
              <a:rPr lang="en-GB" dirty="0">
                <a:solidFill>
                  <a:srgbClr val="080808"/>
                </a:solidFill>
                <a:effectLst/>
              </a:rPr>
              <a:t> = gateway;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}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abstract void </a:t>
            </a:r>
            <a:r>
              <a:rPr lang="en-GB" dirty="0">
                <a:solidFill>
                  <a:srgbClr val="080808"/>
                </a:solidFill>
                <a:effectLst/>
              </a:rPr>
              <a:t>pay(</a:t>
            </a:r>
            <a:r>
              <a:rPr lang="en-GB" dirty="0">
                <a:solidFill>
                  <a:srgbClr val="0033B3"/>
                </a:solidFill>
                <a:effectLst/>
              </a:rPr>
              <a:t>double </a:t>
            </a:r>
            <a:r>
              <a:rPr lang="en-GB" dirty="0">
                <a:solidFill>
                  <a:srgbClr val="080808"/>
                </a:solidFill>
                <a:effectLst/>
              </a:rPr>
              <a:t>amount);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}</a:t>
            </a:r>
            <a:endParaRPr lang="en-UA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690F95-219C-A9C6-4C78-E1B050A6E87D}"/>
              </a:ext>
            </a:extLst>
          </p:cNvPr>
          <p:cNvCxnSpPr>
            <a:cxnSpLocks/>
          </p:cNvCxnSpPr>
          <p:nvPr/>
        </p:nvCxnSpPr>
        <p:spPr>
          <a:xfrm>
            <a:off x="5557652" y="0"/>
            <a:ext cx="0" cy="685800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45EFD34-8165-B42E-0BB5-AEFF40001F9F}"/>
              </a:ext>
            </a:extLst>
          </p:cNvPr>
          <p:cNvSpPr txBox="1"/>
          <p:nvPr/>
        </p:nvSpPr>
        <p:spPr>
          <a:xfrm>
            <a:off x="1851496" y="306422"/>
            <a:ext cx="1717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A" sz="2400" dirty="0">
                <a:solidFill>
                  <a:schemeClr val="bg2">
                    <a:lumMod val="25000"/>
                  </a:schemeClr>
                </a:solidFill>
              </a:rPr>
              <a:t>Abstraction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D4DFA1-F28D-F2B2-22B1-DF70D52AD881}"/>
              </a:ext>
            </a:extLst>
          </p:cNvPr>
          <p:cNvSpPr txBox="1"/>
          <p:nvPr/>
        </p:nvSpPr>
        <p:spPr>
          <a:xfrm>
            <a:off x="6096000" y="306422"/>
            <a:ext cx="2458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A" sz="2400" dirty="0">
                <a:solidFill>
                  <a:schemeClr val="bg2">
                    <a:lumMod val="25000"/>
                  </a:schemeClr>
                </a:solidFill>
              </a:rPr>
              <a:t>Implementations</a:t>
            </a:r>
          </a:p>
        </p:txBody>
      </p:sp>
      <p:pic>
        <p:nvPicPr>
          <p:cNvPr id="2" name="Picture 1" descr="A yellow and green corner&#10;&#10;Description automatically generated">
            <a:extLst>
              <a:ext uri="{FF2B5EF4-FFF2-40B4-BE49-F238E27FC236}">
                <a16:creationId xmlns:a16="http://schemas.microsoft.com/office/drawing/2014/main" id="{F3193343-BBEC-CFA9-C99C-9975A33CA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6911" y="6327267"/>
            <a:ext cx="436029" cy="4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5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9AF531A-522A-BA3B-70C0-6FD14787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163" y="566356"/>
            <a:ext cx="4195674" cy="653834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Pros and Cons</a:t>
            </a:r>
          </a:p>
        </p:txBody>
      </p:sp>
      <p:pic>
        <p:nvPicPr>
          <p:cNvPr id="21" name="Picture 20" descr="A yellow and green corner&#10;&#10;Description automatically generated">
            <a:extLst>
              <a:ext uri="{FF2B5EF4-FFF2-40B4-BE49-F238E27FC236}">
                <a16:creationId xmlns:a16="http://schemas.microsoft.com/office/drawing/2014/main" id="{8B88B9FA-305A-F909-CBA5-FCBD1769E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6911" y="6327267"/>
            <a:ext cx="436029" cy="44269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4FF0AC0-F2BC-0362-00CA-DF493779892A}"/>
              </a:ext>
            </a:extLst>
          </p:cNvPr>
          <p:cNvGrpSpPr/>
          <p:nvPr/>
        </p:nvGrpSpPr>
        <p:grpSpPr>
          <a:xfrm>
            <a:off x="1328057" y="1759077"/>
            <a:ext cx="3996047" cy="646331"/>
            <a:chOff x="1328057" y="1759077"/>
            <a:chExt cx="3996047" cy="6463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8A67CB-B945-9948-CDD4-01D48F56CBB3}"/>
                </a:ext>
              </a:extLst>
            </p:cNvPr>
            <p:cNvSpPr txBox="1"/>
            <p:nvPr/>
          </p:nvSpPr>
          <p:spPr>
            <a:xfrm>
              <a:off x="1972294" y="1759077"/>
              <a:ext cx="33518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b="0" i="0" u="none" strike="noStrike" dirty="0">
                  <a:solidFill>
                    <a:schemeClr val="bg2">
                      <a:lumMod val="25000"/>
                    </a:schemeClr>
                  </a:solidFill>
                  <a:effectLst/>
                  <a:latin typeface="PT Sans" panose="020B0503020203020204" pitchFamily="34" charset="77"/>
                </a:rPr>
                <a:t>You can create platform-independent classes and apps.</a:t>
              </a:r>
            </a:p>
          </p:txBody>
        </p:sp>
        <p:pic>
          <p:nvPicPr>
            <p:cNvPr id="7" name="Graphic 6" descr="Tick">
              <a:extLst>
                <a:ext uri="{FF2B5EF4-FFF2-40B4-BE49-F238E27FC236}">
                  <a16:creationId xmlns:a16="http://schemas.microsoft.com/office/drawing/2014/main" id="{7E3461D0-FECE-81DE-89A3-91B7ED145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28057" y="1861064"/>
              <a:ext cx="442356" cy="44235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0AC2B5-A3A9-FADE-8882-1D878222B7DA}"/>
              </a:ext>
            </a:extLst>
          </p:cNvPr>
          <p:cNvGrpSpPr/>
          <p:nvPr/>
        </p:nvGrpSpPr>
        <p:grpSpPr>
          <a:xfrm>
            <a:off x="1328057" y="2621129"/>
            <a:ext cx="3996047" cy="923330"/>
            <a:chOff x="1328057" y="1759077"/>
            <a:chExt cx="3996047" cy="92333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504A36C-BEAC-05BE-18CC-20BAC1E47C9F}"/>
                </a:ext>
              </a:extLst>
            </p:cNvPr>
            <p:cNvSpPr txBox="1"/>
            <p:nvPr/>
          </p:nvSpPr>
          <p:spPr>
            <a:xfrm>
              <a:off x="1972294" y="1759077"/>
              <a:ext cx="335181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b="0" i="0" u="none" strike="noStrike" dirty="0">
                  <a:solidFill>
                    <a:schemeClr val="bg2">
                      <a:lumMod val="25000"/>
                    </a:schemeClr>
                  </a:solidFill>
                  <a:effectLst/>
                  <a:latin typeface="PT Sans" panose="020B0503020203020204" pitchFamily="34" charset="77"/>
                </a:rPr>
                <a:t>The client code works with high-level abstractions. It isn’t exposed to the platform details.</a:t>
              </a:r>
            </a:p>
          </p:txBody>
        </p:sp>
        <p:pic>
          <p:nvPicPr>
            <p:cNvPr id="15" name="Graphic 14" descr="Tick">
              <a:extLst>
                <a:ext uri="{FF2B5EF4-FFF2-40B4-BE49-F238E27FC236}">
                  <a16:creationId xmlns:a16="http://schemas.microsoft.com/office/drawing/2014/main" id="{0C73F77C-A88F-C74F-FA07-6F8A147AC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28057" y="1999564"/>
              <a:ext cx="442356" cy="44235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34DF81-B2A6-4E47-0386-0FE796B5AD71}"/>
              </a:ext>
            </a:extLst>
          </p:cNvPr>
          <p:cNvGrpSpPr/>
          <p:nvPr/>
        </p:nvGrpSpPr>
        <p:grpSpPr>
          <a:xfrm>
            <a:off x="1328057" y="3760180"/>
            <a:ext cx="3996047" cy="442356"/>
            <a:chOff x="1328057" y="1722565"/>
            <a:chExt cx="3996047" cy="44235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5EA99BD-EE34-7484-47C4-949C9E0D8ED1}"/>
                </a:ext>
              </a:extLst>
            </p:cNvPr>
            <p:cNvSpPr txBox="1"/>
            <p:nvPr/>
          </p:nvSpPr>
          <p:spPr>
            <a:xfrm>
              <a:off x="1972294" y="1759077"/>
              <a:ext cx="33518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b="0" i="1" u="none" strike="noStrike" dirty="0">
                  <a:solidFill>
                    <a:schemeClr val="bg2">
                      <a:lumMod val="25000"/>
                    </a:schemeClr>
                  </a:solidFill>
                  <a:effectLst/>
                  <a:latin typeface="PT Sans" panose="020B0503020203020204" pitchFamily="34" charset="77"/>
                </a:rPr>
                <a:t>Open/Closed Principle</a:t>
              </a:r>
              <a:r>
                <a:rPr lang="en-GB" b="0" i="0" u="none" strike="noStrike" dirty="0">
                  <a:solidFill>
                    <a:schemeClr val="bg2">
                      <a:lumMod val="25000"/>
                    </a:schemeClr>
                  </a:solidFill>
                  <a:effectLst/>
                  <a:latin typeface="PT Sans" panose="020B0503020203020204" pitchFamily="34" charset="77"/>
                </a:rPr>
                <a:t>.</a:t>
              </a:r>
            </a:p>
          </p:txBody>
        </p:sp>
        <p:pic>
          <p:nvPicPr>
            <p:cNvPr id="19" name="Graphic 18" descr="Tick">
              <a:extLst>
                <a:ext uri="{FF2B5EF4-FFF2-40B4-BE49-F238E27FC236}">
                  <a16:creationId xmlns:a16="http://schemas.microsoft.com/office/drawing/2014/main" id="{E1EE5A33-8F38-E460-1106-A48EB8BE4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28057" y="1722565"/>
              <a:ext cx="442356" cy="44235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87C28F-0B41-53E9-272E-EB79AEF74A5F}"/>
              </a:ext>
            </a:extLst>
          </p:cNvPr>
          <p:cNvGrpSpPr/>
          <p:nvPr/>
        </p:nvGrpSpPr>
        <p:grpSpPr>
          <a:xfrm>
            <a:off x="1328057" y="4437566"/>
            <a:ext cx="3940424" cy="442356"/>
            <a:chOff x="1383680" y="1660792"/>
            <a:chExt cx="3940424" cy="44235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B1A437D-2896-E5B7-AED4-9EFB8DEDB0AE}"/>
                </a:ext>
              </a:extLst>
            </p:cNvPr>
            <p:cNvSpPr txBox="1"/>
            <p:nvPr/>
          </p:nvSpPr>
          <p:spPr>
            <a:xfrm>
              <a:off x="1972294" y="1697304"/>
              <a:ext cx="33518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b="0" i="1" u="none" strike="noStrike" dirty="0">
                  <a:solidFill>
                    <a:schemeClr val="bg2">
                      <a:lumMod val="25000"/>
                    </a:schemeClr>
                  </a:solidFill>
                  <a:effectLst/>
                  <a:latin typeface="PT Sans" panose="020B0503020203020204" pitchFamily="34" charset="77"/>
                </a:rPr>
                <a:t>Single Responsibility Principle</a:t>
              </a:r>
              <a:r>
                <a:rPr lang="en-GB" b="0" i="0" u="none" strike="noStrike" dirty="0">
                  <a:solidFill>
                    <a:schemeClr val="bg2">
                      <a:lumMod val="25000"/>
                    </a:schemeClr>
                  </a:solidFill>
                  <a:effectLst/>
                  <a:latin typeface="PT Sans" panose="020B0503020203020204" pitchFamily="34" charset="77"/>
                </a:rPr>
                <a:t>. </a:t>
              </a:r>
            </a:p>
          </p:txBody>
        </p:sp>
        <p:pic>
          <p:nvPicPr>
            <p:cNvPr id="24" name="Graphic 23" descr="Tick">
              <a:extLst>
                <a:ext uri="{FF2B5EF4-FFF2-40B4-BE49-F238E27FC236}">
                  <a16:creationId xmlns:a16="http://schemas.microsoft.com/office/drawing/2014/main" id="{980A7173-D234-5F08-8E50-33F485780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83680" y="1660792"/>
              <a:ext cx="442356" cy="442356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51A186C-2574-212D-C749-D10F71C1395A}"/>
              </a:ext>
            </a:extLst>
          </p:cNvPr>
          <p:cNvGrpSpPr/>
          <p:nvPr/>
        </p:nvGrpSpPr>
        <p:grpSpPr>
          <a:xfrm>
            <a:off x="6647482" y="1759077"/>
            <a:ext cx="4573444" cy="923330"/>
            <a:chOff x="6647482" y="1759077"/>
            <a:chExt cx="4573444" cy="923330"/>
          </a:xfrm>
        </p:grpSpPr>
        <p:pic>
          <p:nvPicPr>
            <p:cNvPr id="11" name="Graphic 10" descr="Close">
              <a:extLst>
                <a:ext uri="{FF2B5EF4-FFF2-40B4-BE49-F238E27FC236}">
                  <a16:creationId xmlns:a16="http://schemas.microsoft.com/office/drawing/2014/main" id="{0B2599CE-654A-21B9-FFB7-290064814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647482" y="2000326"/>
              <a:ext cx="440831" cy="4408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30D8037-052B-C37D-913F-751B476937CB}"/>
                </a:ext>
              </a:extLst>
            </p:cNvPr>
            <p:cNvSpPr txBox="1"/>
            <p:nvPr/>
          </p:nvSpPr>
          <p:spPr>
            <a:xfrm>
              <a:off x="7248097" y="1759077"/>
              <a:ext cx="397282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b="0" i="0" u="none" strike="noStrike" dirty="0">
                  <a:solidFill>
                    <a:schemeClr val="bg2">
                      <a:lumMod val="25000"/>
                    </a:schemeClr>
                  </a:solidFill>
                  <a:effectLst/>
                  <a:latin typeface="PT Sans" panose="020B0503020203020204" pitchFamily="34" charset="77"/>
                </a:rPr>
                <a:t>You might make the code more complicated by applying the pattern to a highly cohesive class.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490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CE2B062-15CA-175F-9612-19E66C150DF6}"/>
              </a:ext>
            </a:extLst>
          </p:cNvPr>
          <p:cNvSpPr txBox="1">
            <a:spLocks/>
          </p:cNvSpPr>
          <p:nvPr/>
        </p:nvSpPr>
        <p:spPr>
          <a:xfrm>
            <a:off x="529155" y="0"/>
            <a:ext cx="9792471" cy="2057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72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</a:p>
        </p:txBody>
      </p:sp>
      <p:pic>
        <p:nvPicPr>
          <p:cNvPr id="10" name="Picture 9" descr="A yellow and green corner&#10;&#10;Description automatically generated">
            <a:extLst>
              <a:ext uri="{FF2B5EF4-FFF2-40B4-BE49-F238E27FC236}">
                <a16:creationId xmlns:a16="http://schemas.microsoft.com/office/drawing/2014/main" id="{F2297FCD-D67E-3E9F-D6D0-73ED4825A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6911" y="6327267"/>
            <a:ext cx="436029" cy="4426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9DB79B-64A1-7A90-8C18-D4E51CE4C990}"/>
              </a:ext>
            </a:extLst>
          </p:cNvPr>
          <p:cNvSpPr txBox="1"/>
          <p:nvPr/>
        </p:nvSpPr>
        <p:spPr>
          <a:xfrm>
            <a:off x="529154" y="5951990"/>
            <a:ext cx="6097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Author: Dmytro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</a:rPr>
              <a:t>Halchenko</a:t>
            </a: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B096C5-1CFB-3811-DC64-8D84A729F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106" y="1689502"/>
            <a:ext cx="3893787" cy="389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01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420</Words>
  <Application>Microsoft Macintosh PowerPoint</Application>
  <PresentationFormat>Widescreen</PresentationFormat>
  <Paragraphs>29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PT Sans</vt:lpstr>
      <vt:lpstr>Office Theme</vt:lpstr>
      <vt:lpstr>PowerPoint Presentation</vt:lpstr>
      <vt:lpstr>About me</vt:lpstr>
      <vt:lpstr>Bridge is a structural design pattern that lets you split a large class or a set of closely related classes into two separate  hierarchies—abstraction and implementation—which can be developed independently of each other. </vt:lpstr>
      <vt:lpstr>Problem</vt:lpstr>
      <vt:lpstr>PowerPoint Presentation</vt:lpstr>
      <vt:lpstr>PowerPoint Presentation</vt:lpstr>
      <vt:lpstr>Solution</vt:lpstr>
      <vt:lpstr>PowerPoint Presentation</vt:lpstr>
      <vt:lpstr>PowerPoint Presentation</vt:lpstr>
      <vt:lpstr>PowerPoint Presentation</vt:lpstr>
      <vt:lpstr>Pros and Cons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Pavlo Khshanovskyi</dc:creator>
  <cp:lastModifiedBy>Dmytro Halchenko</cp:lastModifiedBy>
  <cp:revision>7</cp:revision>
  <dcterms:created xsi:type="dcterms:W3CDTF">2024-11-29T18:21:01Z</dcterms:created>
  <dcterms:modified xsi:type="dcterms:W3CDTF">2025-09-16T04:28:11Z</dcterms:modified>
</cp:coreProperties>
</file>