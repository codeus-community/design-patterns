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a34067a00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7a34067a00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a34067a00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7a34067a00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a34067a00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a34067a00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7a34067a00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a34067a00_0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a34067a00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7a34067a00_0_2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af4d15d38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af4d15d38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7af4d15d38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a34067a00_0_2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7a34067a00_0_2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af4d15d3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7af4d15d3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5181f97b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65181f97b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5181f97ba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65181f97ba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hyperlink" Target="https://www.linkedin.com/in/yevhenii-malakhov/" TargetMode="External"/><Relationship Id="rId5" Type="http://schemas.openxmlformats.org/officeDocument/2006/relationships/hyperlink" Target="https://discord.gg/WpUc2ZYHmE" TargetMode="External"/><Relationship Id="rId6" Type="http://schemas.openxmlformats.org/officeDocument/2006/relationships/hyperlink" Target="https://www.linkedin.com/groups/13117017/" TargetMode="External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yellow background with white lines&#10;&#10;Description automatically generated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524000" y="2766904"/>
            <a:ext cx="91440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US" sz="6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 Patterns:</a:t>
            </a:r>
            <a:br>
              <a:rPr b="1" lang="en-US" sz="6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6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Decorator</a:t>
            </a:r>
            <a:endParaRPr b="0" i="0" sz="66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74935" y="1312423"/>
            <a:ext cx="4195674" cy="109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92DC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4892DC"/>
                </a:solidFill>
                <a:latin typeface="Calibri"/>
                <a:ea typeface="Calibri"/>
                <a:cs typeface="Calibri"/>
                <a:sym typeface="Calibri"/>
              </a:rPr>
              <a:t>About me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7274935" y="2876518"/>
            <a:ext cx="4195673" cy="2913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В ІТ біля 4 років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Працюю в компанії Levi9</a:t>
            </a:r>
            <a:endParaRPr sz="2000"/>
          </a:p>
        </p:txBody>
      </p:sp>
      <p:pic>
        <p:nvPicPr>
          <p:cNvPr descr="A yellow and green corner&#10;&#10;Description automatically generated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6911" y="6327267"/>
            <a:ext cx="436029" cy="44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225" y="766237"/>
            <a:ext cx="4143175" cy="532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-1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 flipH="1">
            <a:off x="5124897" y="0"/>
            <a:ext cx="70671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background with lines&#10;&#10;Description automatically generated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50798" y="24554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>
            <p:ph type="title"/>
          </p:nvPr>
        </p:nvSpPr>
        <p:spPr>
          <a:xfrm>
            <a:off x="2797500" y="684575"/>
            <a:ext cx="65970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892DC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4892DC"/>
                </a:solidFill>
                <a:latin typeface="Calibri"/>
                <a:ea typeface="Calibri"/>
                <a:cs typeface="Calibri"/>
                <a:sym typeface="Calibri"/>
              </a:rPr>
              <a:t>Що таке Decorator Pattern?</a:t>
            </a:r>
            <a:endParaRPr sz="4000"/>
          </a:p>
        </p:txBody>
      </p:sp>
      <p:sp>
        <p:nvSpPr>
          <p:cNvPr id="106" name="Google Shape;106;p15"/>
          <p:cNvSpPr/>
          <p:nvPr/>
        </p:nvSpPr>
        <p:spPr>
          <a:xfrm>
            <a:off x="2353048" y="1723047"/>
            <a:ext cx="7485900" cy="1270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6"/>
              </a:gs>
              <a:gs pos="10000">
                <a:schemeClr val="accent6"/>
              </a:gs>
              <a:gs pos="57000">
                <a:schemeClr val="accent3"/>
              </a:gs>
              <a:gs pos="100000">
                <a:srgbClr val="0C3512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Decorator Pattern - це структурний шаблон проектування, який дозволяє динамічно додавати нову функціональність до об'єктів, обгортаючи їх у обгортки (wrappers).</a:t>
            </a:r>
            <a:endParaRPr/>
          </a:p>
        </p:txBody>
      </p:sp>
      <p:pic>
        <p:nvPicPr>
          <p:cNvPr descr="A yellow and green corner&#10;&#10;Description automatically generated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6911" y="6327267"/>
            <a:ext cx="436032" cy="44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2962" y="3197675"/>
            <a:ext cx="5986076" cy="376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3049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-1" y="0"/>
            <a:ext cx="73902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background with lines&#10;&#10;Description automatically generated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>
            <p:ph type="title"/>
          </p:nvPr>
        </p:nvSpPr>
        <p:spPr>
          <a:xfrm>
            <a:off x="2842350" y="464525"/>
            <a:ext cx="65073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92DC"/>
              </a:buClr>
              <a:buSzPts val="3600"/>
              <a:buFont typeface="Calibri"/>
              <a:buNone/>
            </a:pPr>
            <a:r>
              <a:rPr b="1" lang="en-US" sz="4000">
                <a:solidFill>
                  <a:srgbClr val="4892DC"/>
                </a:solidFill>
                <a:latin typeface="Calibri"/>
                <a:ea typeface="Calibri"/>
                <a:cs typeface="Calibri"/>
                <a:sym typeface="Calibri"/>
              </a:rPr>
              <a:t>Ключові характеристики</a:t>
            </a:r>
            <a:endParaRPr sz="4000"/>
          </a:p>
        </p:txBody>
      </p:sp>
      <p:sp>
        <p:nvSpPr>
          <p:cNvPr id="117" name="Google Shape;117;p16"/>
          <p:cNvSpPr/>
          <p:nvPr/>
        </p:nvSpPr>
        <p:spPr>
          <a:xfrm>
            <a:off x="3089449" y="1635950"/>
            <a:ext cx="6016200" cy="1005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  <a:gs pos="100000">
                <a:schemeClr val="accent4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Динамічне розширення функціональності без зміни коду класу</a:t>
            </a:r>
            <a:endParaRPr/>
          </a:p>
        </p:txBody>
      </p:sp>
      <p:pic>
        <p:nvPicPr>
          <p:cNvPr descr="A yellow and green corner&#10;&#10;Description automatically generated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6911" y="6327267"/>
            <a:ext cx="436032" cy="4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/>
          <p:nvPr/>
        </p:nvSpPr>
        <p:spPr>
          <a:xfrm>
            <a:off x="3089449" y="3073425"/>
            <a:ext cx="6016200" cy="1005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  <a:gs pos="100000">
                <a:schemeClr val="accent4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Альтернатива наслідуванню для розширення функціональності</a:t>
            </a:r>
            <a:br>
              <a:rPr b="1" lang="en-US">
                <a:solidFill>
                  <a:schemeClr val="lt1"/>
                </a:solidFill>
              </a:rPr>
            </a:br>
            <a:r>
              <a:rPr b="1" lang="en-US">
                <a:solidFill>
                  <a:schemeClr val="lt1"/>
                </a:solidFill>
              </a:rPr>
              <a:t>Композиція замість наслідування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3089449" y="4510900"/>
            <a:ext cx="6016200" cy="1005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  <a:gs pos="100000">
                <a:schemeClr val="accent4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Дотримання другого принципу SOLID - Open/Closed (відкрито для розширення, закрито для модифікації)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lines&#10;&#10;Description automatically generated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2" y="11004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>
            <p:ph type="title"/>
          </p:nvPr>
        </p:nvSpPr>
        <p:spPr>
          <a:xfrm>
            <a:off x="3590700" y="455975"/>
            <a:ext cx="50106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92DC"/>
              </a:buClr>
              <a:buSzPts val="3600"/>
              <a:buFont typeface="Calibri"/>
              <a:buNone/>
            </a:pPr>
            <a:r>
              <a:rPr b="1" lang="en-US" sz="4000">
                <a:solidFill>
                  <a:srgbClr val="4892DC"/>
                </a:solidFill>
                <a:latin typeface="Calibri"/>
                <a:ea typeface="Calibri"/>
                <a:cs typeface="Calibri"/>
                <a:sym typeface="Calibri"/>
              </a:rPr>
              <a:t>Структура паттерну</a:t>
            </a:r>
            <a:endParaRPr sz="4000"/>
          </a:p>
        </p:txBody>
      </p:sp>
      <p:sp>
        <p:nvSpPr>
          <p:cNvPr id="128" name="Google Shape;128;p17"/>
          <p:cNvSpPr/>
          <p:nvPr/>
        </p:nvSpPr>
        <p:spPr>
          <a:xfrm>
            <a:off x="509274" y="2892747"/>
            <a:ext cx="1591500" cy="824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E59DDC"/>
              </a:gs>
              <a:gs pos="2000">
                <a:srgbClr val="E59DDC"/>
              </a:gs>
              <a:gs pos="52000">
                <a:srgbClr val="3388D7"/>
              </a:gs>
              <a:gs pos="98000">
                <a:srgbClr val="F6C5AB"/>
              </a:gs>
              <a:gs pos="100000">
                <a:srgbClr val="F6C5AB"/>
              </a:gs>
            </a:gsLst>
            <a:lin ang="2700006" scaled="0"/>
          </a:gradFill>
          <a:ln cap="flat" cmpd="sng" w="12700">
            <a:solidFill>
              <a:srgbClr val="125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 (interface)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2789274" y="2892747"/>
            <a:ext cx="1591500" cy="824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E59DDC"/>
              </a:gs>
              <a:gs pos="2000">
                <a:srgbClr val="E59DDC"/>
              </a:gs>
              <a:gs pos="52000">
                <a:srgbClr val="3388D7"/>
              </a:gs>
              <a:gs pos="98000">
                <a:srgbClr val="F6C5AB"/>
              </a:gs>
              <a:gs pos="100000">
                <a:srgbClr val="F6C5AB"/>
              </a:gs>
            </a:gsLst>
            <a:lin ang="2700006" scaled="0"/>
          </a:gradFill>
          <a:ln cap="flat" cmpd="sng" w="12700">
            <a:solidFill>
              <a:srgbClr val="125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ConcreteComponent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7"/>
          <p:cNvCxnSpPr/>
          <p:nvPr/>
        </p:nvCxnSpPr>
        <p:spPr>
          <a:xfrm>
            <a:off x="2100766" y="3304955"/>
            <a:ext cx="688500" cy="420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1" name="Google Shape;131;p17"/>
          <p:cNvSpPr/>
          <p:nvPr/>
        </p:nvSpPr>
        <p:spPr>
          <a:xfrm>
            <a:off x="5069274" y="2892747"/>
            <a:ext cx="1591500" cy="824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E59DDC"/>
              </a:gs>
              <a:gs pos="2000">
                <a:srgbClr val="E59DDC"/>
              </a:gs>
              <a:gs pos="52000">
                <a:srgbClr val="3388D7"/>
              </a:gs>
              <a:gs pos="98000">
                <a:srgbClr val="F6C5AB"/>
              </a:gs>
              <a:gs pos="100000">
                <a:srgbClr val="F6C5AB"/>
              </a:gs>
            </a:gsLst>
            <a:lin ang="2700006" scaled="0"/>
          </a:gradFill>
          <a:ln cap="flat" cmpd="sng" w="12700">
            <a:solidFill>
              <a:srgbClr val="125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Decorator (abstract)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7349274" y="2894847"/>
            <a:ext cx="1591500" cy="824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E59DDC"/>
              </a:gs>
              <a:gs pos="2000">
                <a:srgbClr val="E59DDC"/>
              </a:gs>
              <a:gs pos="52000">
                <a:srgbClr val="3388D7"/>
              </a:gs>
              <a:gs pos="98000">
                <a:srgbClr val="F6C5AB"/>
              </a:gs>
              <a:gs pos="100000">
                <a:srgbClr val="F6C5AB"/>
              </a:gs>
            </a:gsLst>
            <a:lin ang="2700006" scaled="0"/>
          </a:gradFill>
          <a:ln cap="flat" cmpd="sng" w="12700">
            <a:solidFill>
              <a:srgbClr val="125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ConcreteDecoratorA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9629274" y="2892747"/>
            <a:ext cx="1591500" cy="824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E59DDC"/>
              </a:gs>
              <a:gs pos="2000">
                <a:srgbClr val="E59DDC"/>
              </a:gs>
              <a:gs pos="52000">
                <a:srgbClr val="3388D7"/>
              </a:gs>
              <a:gs pos="98000">
                <a:srgbClr val="F6C5AB"/>
              </a:gs>
              <a:gs pos="100000">
                <a:srgbClr val="F6C5AB"/>
              </a:gs>
            </a:gsLst>
            <a:lin ang="2700006" scaled="0"/>
          </a:gradFill>
          <a:ln cap="flat" cmpd="sng" w="12700">
            <a:solidFill>
              <a:srgbClr val="125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ConcreteDecoratorB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7"/>
          <p:cNvCxnSpPr/>
          <p:nvPr/>
        </p:nvCxnSpPr>
        <p:spPr>
          <a:xfrm>
            <a:off x="4380766" y="3304955"/>
            <a:ext cx="688500" cy="420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5" name="Google Shape;135;p17"/>
          <p:cNvCxnSpPr/>
          <p:nvPr/>
        </p:nvCxnSpPr>
        <p:spPr>
          <a:xfrm>
            <a:off x="6660766" y="3302855"/>
            <a:ext cx="688500" cy="420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6" name="Google Shape;136;p17"/>
          <p:cNvCxnSpPr/>
          <p:nvPr/>
        </p:nvCxnSpPr>
        <p:spPr>
          <a:xfrm>
            <a:off x="8940766" y="3304955"/>
            <a:ext cx="688500" cy="420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lines&#10;&#10;Description automatically generated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2" y="11004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>
            <p:ph type="title"/>
          </p:nvPr>
        </p:nvSpPr>
        <p:spPr>
          <a:xfrm>
            <a:off x="3590700" y="455975"/>
            <a:ext cx="50106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92DC"/>
              </a:buClr>
              <a:buSzPts val="3600"/>
              <a:buFont typeface="Calibri"/>
              <a:buNone/>
            </a:pPr>
            <a:r>
              <a:rPr b="1" lang="en-US" sz="4000">
                <a:solidFill>
                  <a:srgbClr val="4892DC"/>
                </a:solidFill>
                <a:latin typeface="Calibri"/>
                <a:ea typeface="Calibri"/>
                <a:cs typeface="Calibri"/>
                <a:sym typeface="Calibri"/>
              </a:rPr>
              <a:t>Структура паттерну</a:t>
            </a:r>
            <a:endParaRPr sz="4000"/>
          </a:p>
        </p:txBody>
      </p:sp>
      <p:pic>
        <p:nvPicPr>
          <p:cNvPr id="144" name="Google Shape;1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4600" y="1452213"/>
            <a:ext cx="6962775" cy="534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lines&#10;&#10;Description automatically generated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2" y="11004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>
            <p:ph type="title"/>
          </p:nvPr>
        </p:nvSpPr>
        <p:spPr>
          <a:xfrm>
            <a:off x="4785600" y="446150"/>
            <a:ext cx="26208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92DC"/>
              </a:buClr>
              <a:buSzPts val="3600"/>
              <a:buFont typeface="Calibri"/>
              <a:buNone/>
            </a:pPr>
            <a:r>
              <a:rPr b="1" lang="en-US" sz="4000">
                <a:solidFill>
                  <a:srgbClr val="4892DC"/>
                </a:solidFill>
                <a:latin typeface="Calibri"/>
                <a:ea typeface="Calibri"/>
                <a:cs typeface="Calibri"/>
                <a:sym typeface="Calibri"/>
              </a:rPr>
              <a:t>Реалізація</a:t>
            </a:r>
            <a:endParaRPr sz="4000"/>
          </a:p>
        </p:txBody>
      </p:sp>
      <p:pic>
        <p:nvPicPr>
          <p:cNvPr id="152" name="Google Shape;15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41292"/>
            <a:ext cx="12192000" cy="4316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300" y="6106178"/>
            <a:ext cx="6497401" cy="454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/>
          <p:nvPr/>
        </p:nvSpPr>
        <p:spPr>
          <a:xfrm>
            <a:off x="3049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background with lines&#10;&#10;Description automatically generated"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>
            <p:ph type="title"/>
          </p:nvPr>
        </p:nvSpPr>
        <p:spPr>
          <a:xfrm>
            <a:off x="3242425" y="615500"/>
            <a:ext cx="5710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92DC"/>
              </a:buClr>
              <a:buSzPts val="3600"/>
              <a:buFont typeface="Calibri"/>
              <a:buNone/>
            </a:pPr>
            <a:r>
              <a:rPr b="1" lang="en-US" sz="4000">
                <a:solidFill>
                  <a:srgbClr val="4892DC"/>
                </a:solidFill>
                <a:latin typeface="Calibri"/>
                <a:ea typeface="Calibri"/>
                <a:cs typeface="Calibri"/>
                <a:sym typeface="Calibri"/>
              </a:rPr>
              <a:t>Приклади застосування</a:t>
            </a:r>
            <a:endParaRPr sz="4000"/>
          </a:p>
        </p:txBody>
      </p:sp>
      <p:pic>
        <p:nvPicPr>
          <p:cNvPr descr="A yellow and green corner&#10;&#10;Description automatically generated" id="162" name="Google Shape;1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6911" y="6327267"/>
            <a:ext cx="436032" cy="4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/>
          <p:nvPr/>
        </p:nvSpPr>
        <p:spPr>
          <a:xfrm>
            <a:off x="2568521" y="2001688"/>
            <a:ext cx="2660549" cy="2179726"/>
          </a:xfrm>
          <a:custGeom>
            <a:rect b="b" l="l" r="r" t="t"/>
            <a:pathLst>
              <a:path extrusionOk="0" h="986" w="1103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</a:rPr>
              <a:t>   HTTP Middleware Pipeline</a:t>
            </a:r>
            <a:endParaRPr b="1">
              <a:solidFill>
                <a:schemeClr val="accent5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</a:rPr>
              <a:t>    - Spring Security filters</a:t>
            </a:r>
            <a:endParaRPr b="1">
              <a:solidFill>
                <a:schemeClr val="accent5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</a:rPr>
              <a:t>    - Servlet filter</a:t>
            </a:r>
            <a:r>
              <a:rPr b="1" lang="en-US">
                <a:solidFill>
                  <a:schemeClr val="accent5"/>
                </a:solidFill>
              </a:rPr>
              <a:t>s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896855" y="3449487"/>
            <a:ext cx="1563152" cy="1406835"/>
          </a:xfrm>
          <a:custGeom>
            <a:rect b="b" l="l" r="r" t="t"/>
            <a:pathLst>
              <a:path extrusionOk="0" h="986" w="1103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</a:rPr>
              <a:t>   I/O Streams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6192250" y="2314938"/>
            <a:ext cx="2169499" cy="1773351"/>
          </a:xfrm>
          <a:custGeom>
            <a:rect b="b" l="l" r="r" t="t"/>
            <a:pathLst>
              <a:path extrusionOk="0" h="986" w="1103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</a:rPr>
              <a:t>Cross-cutting behavior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626525" y="6189125"/>
            <a:ext cx="50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* C</a:t>
            </a:r>
            <a:r>
              <a:rPr b="1" lang="en-US" sz="1100">
                <a:solidFill>
                  <a:schemeClr val="dk1"/>
                </a:solidFill>
              </a:rPr>
              <a:t>ross-cutting behavior</a:t>
            </a:r>
            <a:r>
              <a:rPr lang="en-US" sz="1100">
                <a:solidFill>
                  <a:schemeClr val="dk1"/>
                </a:solidFill>
              </a:rPr>
              <a:t> (logging, caching, retrying, monitoring, security, etc.)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8063380" y="3449487"/>
            <a:ext cx="1563152" cy="1406835"/>
          </a:xfrm>
          <a:custGeom>
            <a:rect b="b" l="l" r="r" t="t"/>
            <a:pathLst>
              <a:path extrusionOk="0" h="986" w="1103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</a:rPr>
              <a:t> Modify class  behavior and results</a:t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-1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1"/>
          <p:cNvSpPr/>
          <p:nvPr/>
        </p:nvSpPr>
        <p:spPr>
          <a:xfrm flipH="1">
            <a:off x="5124897" y="0"/>
            <a:ext cx="70671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background with lines&#10;&#10;Description automatically generated"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2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>
            <p:ph type="title"/>
          </p:nvPr>
        </p:nvSpPr>
        <p:spPr>
          <a:xfrm>
            <a:off x="2856450" y="458525"/>
            <a:ext cx="64761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92DC"/>
              </a:buClr>
              <a:buSzPct val="100000"/>
              <a:buFont typeface="Calibri"/>
              <a:buNone/>
            </a:pPr>
            <a:r>
              <a:rPr b="1" lang="en-US" sz="4000">
                <a:solidFill>
                  <a:srgbClr val="4892DC"/>
                </a:solidFill>
                <a:latin typeface="Calibri"/>
                <a:ea typeface="Calibri"/>
                <a:cs typeface="Calibri"/>
                <a:sym typeface="Calibri"/>
              </a:rPr>
              <a:t>Зв'язки з іншими патернами</a:t>
            </a:r>
            <a:endParaRPr sz="4000"/>
          </a:p>
        </p:txBody>
      </p:sp>
      <p:pic>
        <p:nvPicPr>
          <p:cNvPr descr="A yellow and green corner&#10;&#10;Description automatically generated" id="176" name="Google Shape;1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6911" y="6327267"/>
            <a:ext cx="436032" cy="4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/>
          <p:nvPr/>
        </p:nvSpPr>
        <p:spPr>
          <a:xfrm>
            <a:off x="2353050" y="1705825"/>
            <a:ext cx="7485900" cy="1027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6"/>
              </a:gs>
              <a:gs pos="10000">
                <a:schemeClr val="accent6"/>
              </a:gs>
              <a:gs pos="57000">
                <a:schemeClr val="accent3"/>
              </a:gs>
              <a:gs pos="100000">
                <a:srgbClr val="0C3512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1. Adapter: 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Обидва мають схожу структуру — обгортають об’єкт.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Adapter змінює інтерфейс (робить його сумісним)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Decorator зберігає той самий інтерфейс, але додає поведінку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2353048" y="3541222"/>
            <a:ext cx="7485900" cy="1270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6"/>
              </a:gs>
              <a:gs pos="10000">
                <a:schemeClr val="accent6"/>
              </a:gs>
              <a:gs pos="57000">
                <a:schemeClr val="accent3"/>
              </a:gs>
              <a:gs pos="100000">
                <a:srgbClr val="0C3512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2</a:t>
            </a:r>
            <a:r>
              <a:rPr b="1" lang="en-US">
                <a:solidFill>
                  <a:schemeClr val="lt1"/>
                </a:solidFill>
              </a:rPr>
              <a:t>. Proxy: 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Обидва патерни побудовані за принципом композиції, де один об'єкт має делегувати частину роботи іншому.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Proxy </a:t>
            </a:r>
            <a:r>
              <a:rPr b="1" lang="en-US">
                <a:solidFill>
                  <a:schemeClr val="lt1"/>
                </a:solidFill>
              </a:rPr>
              <a:t>зазвичай керує життєвим циклом свого об'єкта самостійно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Decorator лише додає нові функції без зміни об’єкта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/>
          <p:nvPr/>
        </p:nvSpPr>
        <p:spPr>
          <a:xfrm>
            <a:off x="-1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/>
          <p:nvPr/>
        </p:nvSpPr>
        <p:spPr>
          <a:xfrm flipH="1">
            <a:off x="5124897" y="0"/>
            <a:ext cx="70671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background with lines&#10;&#10;Description automatically generated"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2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>
            <p:ph type="title"/>
          </p:nvPr>
        </p:nvSpPr>
        <p:spPr>
          <a:xfrm>
            <a:off x="2856450" y="458525"/>
            <a:ext cx="64761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92DC"/>
              </a:buClr>
              <a:buSzPct val="100000"/>
              <a:buFont typeface="Calibri"/>
              <a:buNone/>
            </a:pPr>
            <a:r>
              <a:rPr b="1" lang="en-US" sz="4000">
                <a:solidFill>
                  <a:srgbClr val="4892DC"/>
                </a:solidFill>
                <a:latin typeface="Calibri"/>
                <a:ea typeface="Calibri"/>
                <a:cs typeface="Calibri"/>
                <a:sym typeface="Calibri"/>
              </a:rPr>
              <a:t>Зв'язки з іншими патернами</a:t>
            </a:r>
            <a:endParaRPr sz="4000"/>
          </a:p>
        </p:txBody>
      </p:sp>
      <p:pic>
        <p:nvPicPr>
          <p:cNvPr descr="A yellow and green corner&#10;&#10;Description automatically generated" id="187" name="Google Shape;1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6911" y="6327267"/>
            <a:ext cx="436032" cy="4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/>
          <p:nvPr/>
        </p:nvSpPr>
        <p:spPr>
          <a:xfrm>
            <a:off x="2351550" y="1684900"/>
            <a:ext cx="7485900" cy="1577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6"/>
              </a:gs>
              <a:gs pos="10000">
                <a:schemeClr val="accent6"/>
              </a:gs>
              <a:gs pos="57000">
                <a:schemeClr val="accent3"/>
              </a:gs>
              <a:gs pos="100000">
                <a:srgbClr val="0C3512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3. Strategy: 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Обидва дозволяють змінювати поведінку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Strategy інкапсулює алгоритм, який можна змінити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Decorator ззовні огортає для розширення поведінки</a:t>
            </a:r>
            <a:endParaRPr b="1">
              <a:solidFill>
                <a:schemeClr val="lt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Декоратор Дкораторович: “Decorator дозволяє змінювати зовнішність об'єкта, а Strategy його нутрощі”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2353050" y="4133800"/>
            <a:ext cx="7485900" cy="1350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6"/>
              </a:gs>
              <a:gs pos="10000">
                <a:schemeClr val="accent6"/>
              </a:gs>
              <a:gs pos="57000">
                <a:schemeClr val="accent3"/>
              </a:gs>
              <a:gs pos="100000">
                <a:srgbClr val="0C3512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4. Chain of Responsibility: 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Обидва патерни вик. рекурсивну композицію для проходження по ланцюгу викликів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Chain of Responsibility передає запит послідовно по ланцюжку, і обробка може зупинитися</a:t>
            </a:r>
            <a:endParaRPr b="1">
              <a:solidFill>
                <a:schemeClr val="lt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n-US">
                <a:solidFill>
                  <a:schemeClr val="lt1"/>
                </a:solidFill>
              </a:rPr>
              <a:t>Decorator завжди делегує запит далі (або додає свою логіку + делегує)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3049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-1" y="0"/>
            <a:ext cx="73902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background with lines&#10;&#10;Description automatically generated"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/>
          <p:nvPr>
            <p:ph type="title"/>
          </p:nvPr>
        </p:nvSpPr>
        <p:spPr>
          <a:xfrm>
            <a:off x="2427750" y="459475"/>
            <a:ext cx="73365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92DC"/>
              </a:buClr>
              <a:buSzPct val="100000"/>
              <a:buFont typeface="Calibri"/>
              <a:buNone/>
            </a:pPr>
            <a:r>
              <a:rPr b="1" lang="en-US" sz="4000">
                <a:solidFill>
                  <a:srgbClr val="4892DC"/>
                </a:solidFill>
                <a:latin typeface="Calibri"/>
                <a:ea typeface="Calibri"/>
                <a:cs typeface="Calibri"/>
                <a:sym typeface="Calibri"/>
              </a:rPr>
              <a:t>Коли використовувати Decorator</a:t>
            </a:r>
            <a:endParaRPr sz="4000"/>
          </a:p>
        </p:txBody>
      </p:sp>
      <p:pic>
        <p:nvPicPr>
          <p:cNvPr descr="A yellow and green corner&#10;&#10;Description automatically generated" id="198" name="Google Shape;1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6911" y="6327267"/>
            <a:ext cx="436032" cy="4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/>
          <p:nvPr/>
        </p:nvSpPr>
        <p:spPr>
          <a:xfrm>
            <a:off x="1447463" y="1570772"/>
            <a:ext cx="4789200" cy="705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  <a:gs pos="100000">
                <a:schemeClr val="accent4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Коли потрібно динамічно дода</a:t>
            </a:r>
            <a:r>
              <a:rPr b="1" lang="en-US">
                <a:solidFill>
                  <a:schemeClr val="lt1"/>
                </a:solidFill>
              </a:rPr>
              <a:t>вати нову </a:t>
            </a:r>
            <a:r>
              <a:rPr b="1" lang="en-US">
                <a:solidFill>
                  <a:schemeClr val="lt1"/>
                </a:solidFill>
              </a:rPr>
              <a:t>поведінку</a:t>
            </a:r>
            <a:endParaRPr/>
          </a:p>
        </p:txBody>
      </p:sp>
      <p:sp>
        <p:nvSpPr>
          <p:cNvPr id="200" name="Google Shape;200;p23"/>
          <p:cNvSpPr/>
          <p:nvPr/>
        </p:nvSpPr>
        <p:spPr>
          <a:xfrm>
            <a:off x="2505813" y="2458275"/>
            <a:ext cx="5994900" cy="81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  <a:gs pos="100000">
                <a:schemeClr val="accent4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Не можливо змінювати існуючий клас. Наприклад, клас із зовнішньої бібліотеки або legacy-код або final class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4072163" y="3457675"/>
            <a:ext cx="4987500" cy="81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  <a:gs pos="100000">
                <a:schemeClr val="accent4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Для дотримання принципу Open/Closed (SOLID)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757038" y="4457075"/>
            <a:ext cx="4987500" cy="705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  <a:gs pos="100000">
                <a:schemeClr val="accent4"/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Коли поведінка може комбінуватися у різних варіаціях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grey background with lines&#10;&#10;Description automatically generated"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1301051" y="854636"/>
            <a:ext cx="9792600" cy="20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</a:t>
            </a:r>
            <a:r>
              <a:rPr b="0" i="0" lang="en-US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7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1301051" y="3083395"/>
            <a:ext cx="9792600" cy="3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Author: </a:t>
            </a:r>
            <a:r>
              <a:rPr lang="en-US" sz="2400">
                <a:solidFill>
                  <a:srgbClr val="FFFFFF"/>
                </a:solidFill>
              </a:rPr>
              <a:t>Yevhenii Malakhov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 LinkedIn: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Link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Date: September 2025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Join Codeus community in Discord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Join Codeus community in LinkedIn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yellow and green corner&#10;&#10;Description automatically generated" id="210" name="Google Shape;21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56911" y="6327267"/>
            <a:ext cx="436032" cy="44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